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oboto Slab Bold" charset="1" panose="00000000000000000000"/>
      <p:regular r:id="rId17"/>
    </p:embeddedFont>
    <p:embeddedFont>
      <p:font typeface="Roboto Slab" charset="1" panose="00000000000000000000"/>
      <p:regular r:id="rId18"/>
    </p:embeddedFont>
    <p:embeddedFont>
      <p:font typeface="Open Sans" charset="1" panose="020B0606030504020204"/>
      <p:regular r:id="rId19"/>
    </p:embeddedFont>
    <p:embeddedFont>
      <p:font typeface="Courier Prime Bold" charset="1" panose="00000809000000000000"/>
      <p:regular r:id="rId20"/>
    </p:embeddedFont>
    <p:embeddedFont>
      <p:font typeface="Courier Prime" charset="1" panose="00000509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http://uft.edu.br" TargetMode="External" Type="http://schemas.openxmlformats.org/officeDocument/2006/relationships/hyperlink"/><Relationship Id="rId7" Target="https://www.cairu.br/revista/arquivos/artigos/20221/11_UTILIZACAO_SCRATCH_FERRAMENTA.pdf" TargetMode="External" Type="http://schemas.openxmlformats.org/officeDocument/2006/relationships/hyperlink"/><Relationship Id="rId8" Target="http://www.nte-jgs.rct-sc.br/valente.htm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0169" y="7407407"/>
            <a:ext cx="1224101" cy="12241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79072" y="1055420"/>
            <a:ext cx="1675774" cy="16757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856697" y="802843"/>
            <a:ext cx="8681313" cy="868131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593989" y="-907041"/>
            <a:ext cx="3924921" cy="39249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431426" y="5727492"/>
            <a:ext cx="11425148" cy="109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9"/>
              </a:lnSpc>
            </a:pPr>
            <a:r>
              <a:rPr lang="en-US" b="true" sz="388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ESTUDO SOBRE FERRAMENTAS DE APRENDIZAGEM NA ÁREA DA INFORMÁTICA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78280" y="3820658"/>
            <a:ext cx="14531439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PROJETO DE CONCLUSÃO DE CURSO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92008" y="4260713"/>
            <a:ext cx="7903984" cy="1428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95"/>
              </a:lnSpc>
            </a:pPr>
            <a:r>
              <a:rPr lang="en-US" b="true" sz="10086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INFOHUB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26590" y="7885341"/>
            <a:ext cx="14183130" cy="651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</a:pPr>
            <a:r>
              <a:rPr lang="en-US" sz="234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FEITO POR:</a:t>
            </a:r>
          </a:p>
          <a:p>
            <a:pPr algn="ctr">
              <a:lnSpc>
                <a:spcPts val="2576"/>
              </a:lnSpc>
            </a:pPr>
            <a:r>
              <a:rPr lang="en-US" sz="234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JOÃO VITOR MEDEIROS ARAUJO 3°C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89951" y="369932"/>
            <a:ext cx="1675774" cy="16757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19169" y="2229506"/>
            <a:ext cx="6699668" cy="6699668"/>
          </a:xfrm>
          <a:custGeom>
            <a:avLst/>
            <a:gdLst/>
            <a:ahLst/>
            <a:cxnLst/>
            <a:rect r="r" b="b" t="t" l="l"/>
            <a:pathLst>
              <a:path h="6699668" w="6699668">
                <a:moveTo>
                  <a:pt x="0" y="0"/>
                </a:moveTo>
                <a:lnTo>
                  <a:pt x="6699668" y="0"/>
                </a:lnTo>
                <a:lnTo>
                  <a:pt x="6699668" y="6699668"/>
                </a:lnTo>
                <a:lnTo>
                  <a:pt x="0" y="6699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593989" y="-907041"/>
            <a:ext cx="3924921" cy="392492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832880">
            <a:off x="14837115" y="1112880"/>
            <a:ext cx="2745694" cy="4114800"/>
          </a:xfrm>
          <a:custGeom>
            <a:avLst/>
            <a:gdLst/>
            <a:ahLst/>
            <a:cxnLst/>
            <a:rect r="r" b="b" t="t" l="l"/>
            <a:pathLst>
              <a:path h="4114800" w="2745694">
                <a:moveTo>
                  <a:pt x="0" y="0"/>
                </a:moveTo>
                <a:lnTo>
                  <a:pt x="2745694" y="0"/>
                </a:lnTo>
                <a:lnTo>
                  <a:pt x="27456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80668" y="4361022"/>
            <a:ext cx="14726664" cy="210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2"/>
              </a:lnSpc>
            </a:pPr>
            <a:r>
              <a:rPr lang="en-US" b="true" sz="5002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COMO SE INTRODUZ ALGUEM SEM EXPERIÊNCIA PREVIA PARA O MUNDO DA PROGRAMAÇÃO E INFORMATICA?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8280" y="3847611"/>
            <a:ext cx="14531439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INTRODUÇÃO - UMA PERGUNTA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1441589" y="-754641"/>
            <a:ext cx="3924921" cy="392492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798090" y="7457682"/>
            <a:ext cx="4922421" cy="492242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40404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3911" y="1017534"/>
            <a:ext cx="7418473" cy="74184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3412" y="611971"/>
            <a:ext cx="7418473" cy="74184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7347716" y="6921360"/>
            <a:ext cx="2405333" cy="1828053"/>
          </a:xfrm>
          <a:custGeom>
            <a:avLst/>
            <a:gdLst/>
            <a:ahLst/>
            <a:cxnLst/>
            <a:rect r="r" b="b" t="t" l="l"/>
            <a:pathLst>
              <a:path h="1828053" w="2405333">
                <a:moveTo>
                  <a:pt x="2405333" y="0"/>
                </a:moveTo>
                <a:lnTo>
                  <a:pt x="0" y="0"/>
                </a:lnTo>
                <a:lnTo>
                  <a:pt x="0" y="1828053"/>
                </a:lnTo>
                <a:lnTo>
                  <a:pt x="2405333" y="1828053"/>
                </a:lnTo>
                <a:lnTo>
                  <a:pt x="24053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0085919" y="0"/>
            <a:ext cx="8202081" cy="4613671"/>
          </a:xfrm>
          <a:custGeom>
            <a:avLst/>
            <a:gdLst/>
            <a:ahLst/>
            <a:cxnLst/>
            <a:rect r="r" b="b" t="t" l="l"/>
            <a:pathLst>
              <a:path h="4613671" w="8202081">
                <a:moveTo>
                  <a:pt x="8202081" y="0"/>
                </a:moveTo>
                <a:lnTo>
                  <a:pt x="0" y="0"/>
                </a:lnTo>
                <a:lnTo>
                  <a:pt x="0" y="4613671"/>
                </a:lnTo>
                <a:lnTo>
                  <a:pt x="8202081" y="4613671"/>
                </a:lnTo>
                <a:lnTo>
                  <a:pt x="82020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428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085919" y="4016744"/>
            <a:ext cx="8202081" cy="6342832"/>
          </a:xfrm>
          <a:custGeom>
            <a:avLst/>
            <a:gdLst/>
            <a:ahLst/>
            <a:cxnLst/>
            <a:rect r="r" b="b" t="t" l="l"/>
            <a:pathLst>
              <a:path h="6342832" w="8202081">
                <a:moveTo>
                  <a:pt x="0" y="0"/>
                </a:moveTo>
                <a:lnTo>
                  <a:pt x="8202081" y="0"/>
                </a:lnTo>
                <a:lnTo>
                  <a:pt x="8202081" y="6342832"/>
                </a:lnTo>
                <a:lnTo>
                  <a:pt x="0" y="63428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714" t="-1425" r="0" b="-1425"/>
            </a:stretch>
          </a:blipFill>
          <a:ln w="14287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275680" y="2532095"/>
            <a:ext cx="6072037" cy="458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Podem ser jogos, plataformas, e instituições, todos focados em ensinar sobre a lógica e as linguagens de programação para iniciantes, tornando assim o aprendizado muito mais simples e fluido.</a:t>
            </a:r>
          </a:p>
          <a:p>
            <a:pPr algn="l">
              <a:lnSpc>
                <a:spcPts val="4056"/>
              </a:lnSpc>
            </a:pPr>
          </a:p>
          <a:p>
            <a:pPr algn="l" marL="0" indent="0" lvl="0">
              <a:lnSpc>
                <a:spcPts val="4056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Exemplos: Scratch, Grasshopper e Code Combat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5680" y="1159089"/>
            <a:ext cx="5184491" cy="107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9"/>
              </a:lnSpc>
              <a:spcBef>
                <a:spcPct val="0"/>
              </a:spcBef>
            </a:pPr>
            <a:r>
              <a:rPr lang="en-US" b="true" sz="383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FERRAMENTAS DE APRENDIZAGEM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680" y="785709"/>
            <a:ext cx="3838286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89951" y="369932"/>
            <a:ext cx="1675774" cy="16757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19169" y="2229506"/>
            <a:ext cx="6699668" cy="6699668"/>
          </a:xfrm>
          <a:custGeom>
            <a:avLst/>
            <a:gdLst/>
            <a:ahLst/>
            <a:cxnLst/>
            <a:rect r="r" b="b" t="t" l="l"/>
            <a:pathLst>
              <a:path h="6699668" w="6699668">
                <a:moveTo>
                  <a:pt x="0" y="0"/>
                </a:moveTo>
                <a:lnTo>
                  <a:pt x="6699668" y="0"/>
                </a:lnTo>
                <a:lnTo>
                  <a:pt x="6699668" y="6699668"/>
                </a:lnTo>
                <a:lnTo>
                  <a:pt x="0" y="6699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593989" y="-907041"/>
            <a:ext cx="3924921" cy="392492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441589" y="-754641"/>
            <a:ext cx="3924921" cy="392492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98090" y="7457682"/>
            <a:ext cx="4922421" cy="492242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40404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1099118">
            <a:off x="13928532" y="140140"/>
            <a:ext cx="1739115" cy="7357793"/>
          </a:xfrm>
          <a:custGeom>
            <a:avLst/>
            <a:gdLst/>
            <a:ahLst/>
            <a:cxnLst/>
            <a:rect r="r" b="b" t="t" l="l"/>
            <a:pathLst>
              <a:path h="7357793" w="1739115">
                <a:moveTo>
                  <a:pt x="0" y="0"/>
                </a:moveTo>
                <a:lnTo>
                  <a:pt x="1739115" y="0"/>
                </a:lnTo>
                <a:lnTo>
                  <a:pt x="1739115" y="7357793"/>
                </a:lnTo>
                <a:lnTo>
                  <a:pt x="0" y="73577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9020" y="4500101"/>
            <a:ext cx="11749959" cy="168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0"/>
              </a:lnSpc>
            </a:pPr>
            <a:r>
              <a:rPr lang="en-US" b="true" sz="399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NÃO EXISTEM PESQUISAS COMPLEXAS NEM PORTAIS QUE ABORDEM ESSAS FERRAMENTAS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8280" y="3847611"/>
            <a:ext cx="14531439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 PROBLEMA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98526" y="4706635"/>
            <a:ext cx="8681313" cy="868131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434264"/>
            <a:ext cx="7584393" cy="7824036"/>
            <a:chOff x="0" y="0"/>
            <a:chExt cx="830979" cy="8572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0979" cy="857235"/>
            </a:xfrm>
            <a:custGeom>
              <a:avLst/>
              <a:gdLst/>
              <a:ahLst/>
              <a:cxnLst/>
              <a:rect r="r" b="b" t="t" l="l"/>
              <a:pathLst>
                <a:path h="857235" w="830979">
                  <a:moveTo>
                    <a:pt x="0" y="0"/>
                  </a:moveTo>
                  <a:lnTo>
                    <a:pt x="830979" y="0"/>
                  </a:lnTo>
                  <a:lnTo>
                    <a:pt x="830979" y="857235"/>
                  </a:lnTo>
                  <a:lnTo>
                    <a:pt x="0" y="8572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830979" cy="95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30968" y="2871546"/>
            <a:ext cx="5969626" cy="602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7"/>
              </a:lnSpc>
            </a:pPr>
            <a:r>
              <a:rPr lang="en-US" sz="2359" spc="-7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Por meio desse projeto de TCC, buscamos criar uma pesquisa e um Website que englobem vários dos aspectos fessas ferramentas digitais e criem um acervo de fácil acesso e entendimento que aborde os estudos e funcionalidades dessas ferramentas. </a:t>
            </a:r>
          </a:p>
          <a:p>
            <a:pPr algn="just">
              <a:lnSpc>
                <a:spcPts val="3987"/>
              </a:lnSpc>
            </a:pPr>
          </a:p>
          <a:p>
            <a:pPr algn="just" marL="0" indent="0" lvl="0">
              <a:lnSpc>
                <a:spcPts val="3987"/>
              </a:lnSpc>
            </a:pPr>
            <a:r>
              <a:rPr lang="en-US" sz="2359" spc="-7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Podendo assim ser utilizado por escolas e usuários em ocasiões futuras para a educação e aprendizado na área da informática.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0968" y="2241562"/>
            <a:ext cx="5184491" cy="55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9"/>
              </a:lnSpc>
              <a:spcBef>
                <a:spcPct val="0"/>
              </a:spcBef>
            </a:pPr>
            <a:r>
              <a:rPr lang="en-US" b="true" sz="393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PROPOSTA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776212" y="-1962461"/>
            <a:ext cx="3924921" cy="392492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55019" y="2846196"/>
            <a:ext cx="5538194" cy="1204890"/>
            <a:chOff x="0" y="0"/>
            <a:chExt cx="373598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35980" cy="812800"/>
            </a:xfrm>
            <a:custGeom>
              <a:avLst/>
              <a:gdLst/>
              <a:ahLst/>
              <a:cxnLst/>
              <a:rect r="r" b="b" t="t" l="l"/>
              <a:pathLst>
                <a:path h="812800" w="3735980">
                  <a:moveTo>
                    <a:pt x="0" y="0"/>
                  </a:moveTo>
                  <a:lnTo>
                    <a:pt x="3735980" y="0"/>
                  </a:lnTo>
                  <a:lnTo>
                    <a:pt x="37359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3735980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575408" y="3309642"/>
            <a:ext cx="5517805" cy="39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8"/>
              </a:lnSpc>
              <a:spcBef>
                <a:spcPct val="0"/>
              </a:spcBef>
            </a:pPr>
            <a:r>
              <a:rPr lang="en-US" b="true" sz="273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INFORMATICA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555019" y="4539869"/>
            <a:ext cx="5538194" cy="1204890"/>
            <a:chOff x="0" y="0"/>
            <a:chExt cx="373598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35980" cy="812800"/>
            </a:xfrm>
            <a:custGeom>
              <a:avLst/>
              <a:gdLst/>
              <a:ahLst/>
              <a:cxnLst/>
              <a:rect r="r" b="b" t="t" l="l"/>
              <a:pathLst>
                <a:path h="812800" w="3735980">
                  <a:moveTo>
                    <a:pt x="0" y="0"/>
                  </a:moveTo>
                  <a:lnTo>
                    <a:pt x="3735980" y="0"/>
                  </a:lnTo>
                  <a:lnTo>
                    <a:pt x="37359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3735980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575408" y="4955965"/>
            <a:ext cx="5517805" cy="39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8"/>
              </a:lnSpc>
              <a:spcBef>
                <a:spcPct val="0"/>
              </a:spcBef>
            </a:pPr>
            <a:r>
              <a:rPr lang="en-US" b="true" sz="2735">
                <a:solidFill>
                  <a:srgbClr val="F8F8F8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APRENDIZADO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555019" y="6235915"/>
            <a:ext cx="5538194" cy="1204890"/>
            <a:chOff x="0" y="0"/>
            <a:chExt cx="373598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35980" cy="812800"/>
            </a:xfrm>
            <a:custGeom>
              <a:avLst/>
              <a:gdLst/>
              <a:ahLst/>
              <a:cxnLst/>
              <a:rect r="r" b="b" t="t" l="l"/>
              <a:pathLst>
                <a:path h="812800" w="3735980">
                  <a:moveTo>
                    <a:pt x="0" y="0"/>
                  </a:moveTo>
                  <a:lnTo>
                    <a:pt x="3735980" y="0"/>
                  </a:lnTo>
                  <a:lnTo>
                    <a:pt x="37359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3735980" cy="90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575408" y="6650824"/>
            <a:ext cx="5517805" cy="39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8"/>
              </a:lnSpc>
              <a:spcBef>
                <a:spcPct val="0"/>
              </a:spcBef>
            </a:pPr>
            <a:r>
              <a:rPr lang="en-US" b="true" sz="273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PESQUISA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44562" y="2232037"/>
            <a:ext cx="3779498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PALAVRAS CHAVE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98809" y="2199545"/>
            <a:ext cx="6220157" cy="622015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85248" y="-1838040"/>
            <a:ext cx="5372118" cy="53721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0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95071" y="2033422"/>
            <a:ext cx="1224101" cy="12241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95071" y="4968800"/>
            <a:ext cx="1224101" cy="12241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458835" y="7098808"/>
            <a:ext cx="1468157" cy="146815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430150" y="3801893"/>
            <a:ext cx="1815263" cy="1778958"/>
          </a:xfrm>
          <a:custGeom>
            <a:avLst/>
            <a:gdLst/>
            <a:ahLst/>
            <a:cxnLst/>
            <a:rect r="r" b="b" t="t" l="l"/>
            <a:pathLst>
              <a:path h="1778958" w="1815263">
                <a:moveTo>
                  <a:pt x="0" y="0"/>
                </a:moveTo>
                <a:lnTo>
                  <a:pt x="1815263" y="0"/>
                </a:lnTo>
                <a:lnTo>
                  <a:pt x="1815263" y="1778958"/>
                </a:lnTo>
                <a:lnTo>
                  <a:pt x="0" y="177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102363" y="5886766"/>
            <a:ext cx="4213048" cy="5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2"/>
              </a:lnSpc>
            </a:pPr>
            <a:r>
              <a:rPr lang="en-US" b="true" sz="377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OBJETIVOS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07122" y="2256695"/>
            <a:ext cx="1169846" cy="815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5729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07122" y="5201599"/>
            <a:ext cx="1169846" cy="815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5729" b="tru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02228" y="2482595"/>
            <a:ext cx="8318632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OBJETIVOS GERAIS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02228" y="5427498"/>
            <a:ext cx="8318632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OBJETIVOS ESPECIFICOS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95071" y="3686478"/>
            <a:ext cx="7901516" cy="1498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56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Realizar uma pesquisa sobre ferramentas digitais utilizadas na área da programação</a:t>
            </a:r>
          </a:p>
          <a:p>
            <a:pPr algn="l">
              <a:lnSpc>
                <a:spcPts val="4056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895071" y="6406879"/>
            <a:ext cx="7901516" cy="201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56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Criação de hub de webpáginas focado em utilizar os dados da pesquisa para apresentar essas ferramentas digitais para novos usuários, juntamente com sua documentação.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40657" y="1867548"/>
            <a:ext cx="8681313" cy="868131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0916" y="1719183"/>
            <a:ext cx="8678114" cy="7823358"/>
            <a:chOff x="0" y="0"/>
            <a:chExt cx="950812" cy="857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0812" cy="857161"/>
            </a:xfrm>
            <a:custGeom>
              <a:avLst/>
              <a:gdLst/>
              <a:ahLst/>
              <a:cxnLst/>
              <a:rect r="r" b="b" t="t" l="l"/>
              <a:pathLst>
                <a:path h="857161" w="950812">
                  <a:moveTo>
                    <a:pt x="0" y="0"/>
                  </a:moveTo>
                  <a:lnTo>
                    <a:pt x="950812" y="0"/>
                  </a:lnTo>
                  <a:lnTo>
                    <a:pt x="950812" y="857161"/>
                  </a:lnTo>
                  <a:lnTo>
                    <a:pt x="0" y="8571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950812" cy="952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198526" y="-933761"/>
            <a:ext cx="3924921" cy="39249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66730" y="2000312"/>
            <a:ext cx="8006486" cy="715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O projeto constituirá de duas partes, uma pesquisa teórica abordando as ferramentas estudadas e um hub de sites o qual integrará os dados da pesquisa.</a:t>
            </a:r>
          </a:p>
          <a:p>
            <a:pPr algn="l">
              <a:lnSpc>
                <a:spcPts val="4056"/>
              </a:lnSpc>
            </a:pPr>
          </a:p>
          <a:p>
            <a:pPr algn="l" marL="518160" indent="-259080" lvl="1">
              <a:lnSpc>
                <a:spcPts val="4056"/>
              </a:lnSpc>
              <a:buFont typeface="Arial"/>
              <a:buChar char="•"/>
            </a:pPr>
            <a:r>
              <a:rPr lang="en-US" b="true" sz="2400" spc="-72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Pesquisa:</a:t>
            </a: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 Utilizará do referêncial teórico de outras pesquisas educacionais relacionadas ao tema. Abordará as funcionalidades e o uso educacional das ferramentas estudadas</a:t>
            </a:r>
          </a:p>
          <a:p>
            <a:pPr algn="l">
              <a:lnSpc>
                <a:spcPts val="4056"/>
              </a:lnSpc>
            </a:pPr>
          </a:p>
          <a:p>
            <a:pPr algn="l" marL="518160" indent="-259080" lvl="1">
              <a:lnSpc>
                <a:spcPts val="4056"/>
              </a:lnSpc>
              <a:buFont typeface="Arial"/>
              <a:buChar char="•"/>
            </a:pPr>
            <a:r>
              <a:rPr lang="en-US" b="true" sz="2400" spc="-72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Hub:</a:t>
            </a:r>
            <a:r>
              <a:rPr lang="en-US" sz="2400" spc="-72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Constituirá de uma página central a qual servirá de introdução ao projeto e redirecionará o usuário para outras páginas, cada qual dedicada á uma ferramenta, abordando seus principios básicos, documentação e forma de acesso.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809211" y="-464949"/>
            <a:ext cx="4967219" cy="11216898"/>
            <a:chOff x="0" y="0"/>
            <a:chExt cx="2117230" cy="47810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17230" cy="4781095"/>
            </a:xfrm>
            <a:custGeom>
              <a:avLst/>
              <a:gdLst/>
              <a:ahLst/>
              <a:cxnLst/>
              <a:rect r="r" b="b" t="t" l="l"/>
              <a:pathLst>
                <a:path h="4781095" w="2117230">
                  <a:moveTo>
                    <a:pt x="0" y="0"/>
                  </a:moveTo>
                  <a:lnTo>
                    <a:pt x="2117230" y="0"/>
                  </a:lnTo>
                  <a:lnTo>
                    <a:pt x="2117230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2117230" cy="4876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80529" y="399391"/>
            <a:ext cx="1468157" cy="146815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130916" y="338698"/>
            <a:ext cx="10030910" cy="124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1"/>
              </a:lnSpc>
              <a:spcBef>
                <a:spcPct val="0"/>
              </a:spcBef>
            </a:pPr>
            <a:r>
              <a:rPr lang="en-US" b="true" sz="4492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METODOLOGIA - COMO ESTÁ SENDO DESENVOLVIDO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40657" y="1867548"/>
            <a:ext cx="8681313" cy="868131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98526" y="-933761"/>
            <a:ext cx="3924921" cy="392492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18724" y="-464949"/>
            <a:ext cx="3257706" cy="11216898"/>
            <a:chOff x="0" y="0"/>
            <a:chExt cx="1388566" cy="47810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8566" cy="4781095"/>
            </a:xfrm>
            <a:custGeom>
              <a:avLst/>
              <a:gdLst/>
              <a:ahLst/>
              <a:cxnLst/>
              <a:rect r="r" b="b" t="t" l="l"/>
              <a:pathLst>
                <a:path h="4781095" w="1388566">
                  <a:moveTo>
                    <a:pt x="0" y="0"/>
                  </a:moveTo>
                  <a:lnTo>
                    <a:pt x="1388566" y="0"/>
                  </a:lnTo>
                  <a:lnTo>
                    <a:pt x="1388566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388566" cy="4876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47577" y="-206338"/>
            <a:ext cx="1468157" cy="146815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74207" y="2767623"/>
            <a:ext cx="9411797" cy="5209867"/>
          </a:xfrm>
          <a:custGeom>
            <a:avLst/>
            <a:gdLst/>
            <a:ahLst/>
            <a:cxnLst/>
            <a:rect r="r" b="b" t="t" l="l"/>
            <a:pathLst>
              <a:path h="5209867" w="9411797">
                <a:moveTo>
                  <a:pt x="0" y="0"/>
                </a:moveTo>
                <a:lnTo>
                  <a:pt x="9411796" y="0"/>
                </a:lnTo>
                <a:lnTo>
                  <a:pt x="9411796" y="5209867"/>
                </a:lnTo>
                <a:lnTo>
                  <a:pt x="0" y="5209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647" t="0" r="-12427" b="-8188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91652" y="2767623"/>
            <a:ext cx="7710365" cy="5209867"/>
          </a:xfrm>
          <a:custGeom>
            <a:avLst/>
            <a:gdLst/>
            <a:ahLst/>
            <a:cxnLst/>
            <a:rect r="r" b="b" t="t" l="l"/>
            <a:pathLst>
              <a:path h="5209867" w="7710365">
                <a:moveTo>
                  <a:pt x="0" y="0"/>
                </a:moveTo>
                <a:lnTo>
                  <a:pt x="7710365" y="0"/>
                </a:lnTo>
                <a:lnTo>
                  <a:pt x="7710365" y="5209867"/>
                </a:lnTo>
                <a:lnTo>
                  <a:pt x="0" y="5209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92" t="0" r="-109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775497" y="971355"/>
            <a:ext cx="7376665" cy="62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1"/>
              </a:lnSpc>
              <a:spcBef>
                <a:spcPct val="0"/>
              </a:spcBef>
            </a:pPr>
            <a:r>
              <a:rPr lang="en-US" b="true" sz="4492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PROGRESSO DO PROJETO: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53818" y="8209003"/>
            <a:ext cx="10620022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Figuras: Imagens do desenvolvimento da página sobre o Scratch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68406" y="-1921001"/>
            <a:ext cx="8681313" cy="868131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BE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24202" y="-3977885"/>
            <a:ext cx="8681313" cy="868131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38787" y="-1921001"/>
            <a:ext cx="3924921" cy="39249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01248" y="9258300"/>
            <a:ext cx="896653" cy="89665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908734" y="2003920"/>
          <a:ext cx="13985230" cy="7644298"/>
        </p:xfrm>
        <a:graphic>
          <a:graphicData uri="http://schemas.openxmlformats.org/drawingml/2006/table">
            <a:tbl>
              <a:tblPr/>
              <a:tblGrid>
                <a:gridCol w="6136867"/>
                <a:gridCol w="1121195"/>
                <a:gridCol w="1121195"/>
                <a:gridCol w="1121195"/>
                <a:gridCol w="1121195"/>
                <a:gridCol w="1121195"/>
                <a:gridCol w="1121195"/>
                <a:gridCol w="1121195"/>
              </a:tblGrid>
              <a:tr h="8041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Atividades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MAR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ABR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MAI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JUN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JUL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AGO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 b="true">
                          <a:solidFill>
                            <a:srgbClr val="000000"/>
                          </a:solidFill>
                          <a:latin typeface="Courier Prime Bold"/>
                          <a:ea typeface="Courier Prime Bold"/>
                          <a:cs typeface="Courier Prime Bold"/>
                          <a:sym typeface="Courier Prime Bold"/>
                        </a:rPr>
                        <a:t>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114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Elaboração e Definição do projeto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Coleta de dados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Elaboração da Pesquisa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Conceituação do website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Programação do website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</a:tr>
              <a:tr h="114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r>
                        <a:rPr lang="en-US" sz="1959">
                          <a:solidFill>
                            <a:srgbClr val="000000"/>
                          </a:solidFill>
                          <a:latin typeface="Courier Prime"/>
                          <a:ea typeface="Courier Prime"/>
                          <a:cs typeface="Courier Prime"/>
                          <a:sym typeface="Courier Prime"/>
                        </a:rPr>
                        <a:t>Revisão e Polimento do projeto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4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606"/>
                    </a:solidFill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908734" y="580711"/>
            <a:ext cx="8870075" cy="962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4"/>
              </a:lnSpc>
              <a:spcBef>
                <a:spcPct val="0"/>
              </a:spcBef>
            </a:pPr>
            <a:r>
              <a:rPr lang="en-US" b="true" sz="679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CRONOGRAMA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2413804" y="9258300"/>
            <a:ext cx="3779290" cy="377929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88870" y="802843"/>
            <a:ext cx="8681313" cy="868131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290704" y="-907041"/>
            <a:ext cx="3924921" cy="392492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945485" y="4756408"/>
            <a:ext cx="1023581" cy="1032971"/>
          </a:xfrm>
          <a:custGeom>
            <a:avLst/>
            <a:gdLst/>
            <a:ahLst/>
            <a:cxnLst/>
            <a:rect r="r" b="b" t="t" l="l"/>
            <a:pathLst>
              <a:path h="1032971" w="1023581">
                <a:moveTo>
                  <a:pt x="0" y="0"/>
                </a:moveTo>
                <a:lnTo>
                  <a:pt x="1023581" y="0"/>
                </a:lnTo>
                <a:lnTo>
                  <a:pt x="1023581" y="1032972"/>
                </a:lnTo>
                <a:lnTo>
                  <a:pt x="0" y="1032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00446" y="4563510"/>
            <a:ext cx="1174948" cy="1343496"/>
          </a:xfrm>
          <a:custGeom>
            <a:avLst/>
            <a:gdLst/>
            <a:ahLst/>
            <a:cxnLst/>
            <a:rect r="r" b="b" t="t" l="l"/>
            <a:pathLst>
              <a:path h="1343496" w="1174948">
                <a:moveTo>
                  <a:pt x="0" y="0"/>
                </a:moveTo>
                <a:lnTo>
                  <a:pt x="1174948" y="0"/>
                </a:lnTo>
                <a:lnTo>
                  <a:pt x="1174948" y="1343496"/>
                </a:lnTo>
                <a:lnTo>
                  <a:pt x="0" y="1343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49050" y="607430"/>
            <a:ext cx="8870075" cy="962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4"/>
              </a:lnSpc>
              <a:spcBef>
                <a:spcPct val="0"/>
              </a:spcBef>
            </a:pPr>
            <a:r>
              <a:rPr lang="en-US" b="true" sz="6795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BIBLIOGRÁFIA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49050" y="1950302"/>
            <a:ext cx="15019566" cy="112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</a:t>
            </a:r>
            <a:r>
              <a:rPr lang="en-US" b="true" sz="1800" strike="noStrike" u="non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ATISTA, M. Q.; SILVA, M. C. R.; SOUSA, I. M. S. F. O uso das TICs como recurso didático no processo de ensino-aprendizado de língua portuguesa: implicações dessa interface em sala de aula</a:t>
            </a: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. Revista Principia, João Pessoa, n. 54, p. 121-129, mar. 2021. 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Disponível em: https://periodicos.ifpb.edu.br/index.php/principia/article/view/3980. Acesso em: 07 maio. 2026.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49050" y="3575159"/>
            <a:ext cx="15019566" cy="150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MARIA, S. O uso do scratch como recurso didático. Ifpb.edu.br, 2026.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CAVALCANTE, F. V. O uso do Scratch como ferramenta para criação de objetos de aprendizagem no ensino de matemática. 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Disponível em: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sng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  <a:hlinkClick r:id="rId6" tooltip="http://uft.edu.br"/>
              </a:rPr>
              <a:t>Uft.edu.br</a:t>
            </a: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  2021. Acesso em: 07 maio. 2026.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49050" y="5463394"/>
            <a:ext cx="15019566" cy="2269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OLIVEIR</a:t>
            </a:r>
            <a:r>
              <a:rPr lang="en-US" b="true" sz="1800" strike="noStrike" u="non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 XAVIER, E.; DOS, L.; GONZALEZ, S. A UTILIZAÇÃO DO SCRATCH COMO FERRAMENTA DE APRENDIZAGEM DO ALUNO DO ENSINO FUNDAMENTAL: UM ESTUDO DE CASO APLICADO NA ESCOLA MUNICIPAL SANTA TEREZINHA. , v. 11, p. 22377719.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disponivel em: 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sng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  <a:hlinkClick r:id="rId7" tooltip="https://www.cairu.br/revista/arquivos/artigos/20221/11_UTILIZACAO_SCRATCH_FERRAMENTA.pdf"/>
              </a:rPr>
              <a:t>https://www.cairu.br/revista/arquivos/artigos/20221/11_UTILIZACAO_SCRATCH_FERRAMENTA.pdf</a:t>
            </a: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2022. Acesso em: 08 maio. 2026.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049050" y="7637379"/>
            <a:ext cx="15019566" cy="150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</a:t>
            </a:r>
            <a:r>
              <a:rPr lang="en-US" b="true" sz="1800" strike="noStrike" u="non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ALENTE, J A O computador auxilia no processo de mudança na escola.Informática na educação 2010.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Disponível em: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sng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  <a:hlinkClick r:id="rId8" tooltip="http://www.nte-jgs.rct-sc.br/valente.htm"/>
              </a:rPr>
              <a:t>http://www.nte-jgs.rct-sc.br/valente.htm</a:t>
            </a:r>
          </a:p>
          <a:p>
            <a:pPr algn="just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Acesso em: 07 maio. 2026.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0169" y="7407407"/>
            <a:ext cx="1224101" cy="12241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F0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79072" y="1055420"/>
            <a:ext cx="1675774" cy="16757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856697" y="802843"/>
            <a:ext cx="8681313" cy="868131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593989" y="-907041"/>
            <a:ext cx="3924921" cy="39249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38125" cap="sq">
              <a:solidFill>
                <a:srgbClr val="FFBF0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03039" y="4067690"/>
            <a:ext cx="10613920" cy="267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2"/>
              </a:lnSpc>
            </a:pPr>
            <a:r>
              <a:rPr lang="en-US" b="true" sz="9511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FIM DA APRESENTAÇÃO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DAHLo-MUQ4k</dc:identifier>
  <dcterms:modified xsi:type="dcterms:W3CDTF">2011-08-01T06:04:30Z</dcterms:modified>
  <cp:revision>1</cp:revision>
  <dc:title>eSTUDO Ferramentas de aprendizagem na área da informática</dc:title>
</cp:coreProperties>
</file>