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Roboto Slab Bold" charset="1" panose="00000000000000000000"/>
      <p:regular r:id="rId18"/>
    </p:embeddedFont>
    <p:embeddedFont>
      <p:font typeface="Roboto Slab" charset="1" panose="00000000000000000000"/>
      <p:regular r:id="rId19"/>
    </p:embeddedFont>
    <p:embeddedFont>
      <p:font typeface="Poppins Bold" charset="1" panose="00000800000000000000"/>
      <p:regular r:id="rId20"/>
    </p:embeddedFont>
    <p:embeddedFont>
      <p:font typeface="Open Sans Bold" charset="1" panose="020B0806030504020204"/>
      <p:regular r:id="rId21"/>
    </p:embeddedFont>
    <p:embeddedFont>
      <p:font typeface="Courier Prime Bold" charset="1" panose="00000809000000000000"/>
      <p:regular r:id="rId22"/>
    </p:embeddedFont>
    <p:embeddedFont>
      <p:font typeface="Courier Prime" charset="1" panose="00000509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http://uft.edu.br" TargetMode="External" Type="http://schemas.openxmlformats.org/officeDocument/2006/relationships/hyperlink"/><Relationship Id="rId7" Target="https://www.cairu.br/revista/arquivos/artigos/20221/11_UTILIZACAO_SCRATCH_FERRAMENTA.pdf" TargetMode="External" Type="http://schemas.openxmlformats.org/officeDocument/2006/relationships/hyperlink"/><Relationship Id="rId8" Target="http://www.nte-jgs.rct-sc.br/valente.htm" TargetMode="External" Type="http://schemas.openxmlformats.org/officeDocument/2006/relationships/hyperlink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30169" y="7407407"/>
            <a:ext cx="1224101" cy="122410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F0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279072" y="1055420"/>
            <a:ext cx="1675774" cy="167577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856697" y="802843"/>
            <a:ext cx="8681313" cy="868131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593989" y="-907041"/>
            <a:ext cx="3924921" cy="392492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38125" cap="sq">
              <a:solidFill>
                <a:srgbClr val="FFBF08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431426" y="5727492"/>
            <a:ext cx="11425148" cy="1092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9"/>
              </a:lnSpc>
            </a:pPr>
            <a:r>
              <a:rPr lang="en-US" b="true" sz="388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ESTUDO SOBRE FERRAMENTAS DE APRENDIZAGEM NA ÁREA DA INFORMÁTICA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78280" y="3820658"/>
            <a:ext cx="14531439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PROJETO DE CONCLUSÃO DE CURSO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92008" y="4260713"/>
            <a:ext cx="7903984" cy="1428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95"/>
              </a:lnSpc>
            </a:pPr>
            <a:r>
              <a:rPr lang="en-US" b="true" sz="10086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INFOHUB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26590" y="7885341"/>
            <a:ext cx="14183130" cy="651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6"/>
              </a:lnSpc>
            </a:pPr>
            <a:r>
              <a:rPr lang="en-US" sz="234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FEITO POR:</a:t>
            </a:r>
          </a:p>
          <a:p>
            <a:pPr algn="ctr">
              <a:lnSpc>
                <a:spcPts val="2576"/>
              </a:lnSpc>
            </a:pPr>
            <a:r>
              <a:rPr lang="en-US" sz="234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JOÃO VITOR MEDEIROS ARAUJO 3°C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89951" y="369932"/>
            <a:ext cx="1675774" cy="167577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319169" y="2229506"/>
            <a:ext cx="6699668" cy="6699668"/>
          </a:xfrm>
          <a:custGeom>
            <a:avLst/>
            <a:gdLst/>
            <a:ahLst/>
            <a:cxnLst/>
            <a:rect r="r" b="b" t="t" l="l"/>
            <a:pathLst>
              <a:path h="6699668" w="6699668">
                <a:moveTo>
                  <a:pt x="0" y="0"/>
                </a:moveTo>
                <a:lnTo>
                  <a:pt x="6699668" y="0"/>
                </a:lnTo>
                <a:lnTo>
                  <a:pt x="6699668" y="6699668"/>
                </a:lnTo>
                <a:lnTo>
                  <a:pt x="0" y="6699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593989" y="-907041"/>
            <a:ext cx="3924921" cy="392492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38125" cap="sq">
              <a:solidFill>
                <a:srgbClr val="FFBF08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1832880">
            <a:off x="14837115" y="1112880"/>
            <a:ext cx="2745694" cy="4114800"/>
          </a:xfrm>
          <a:custGeom>
            <a:avLst/>
            <a:gdLst/>
            <a:ahLst/>
            <a:cxnLst/>
            <a:rect r="r" b="b" t="t" l="l"/>
            <a:pathLst>
              <a:path h="4114800" w="2745694">
                <a:moveTo>
                  <a:pt x="0" y="0"/>
                </a:moveTo>
                <a:lnTo>
                  <a:pt x="2745694" y="0"/>
                </a:lnTo>
                <a:lnTo>
                  <a:pt x="27456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80668" y="4361022"/>
            <a:ext cx="14726664" cy="2106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2"/>
              </a:lnSpc>
            </a:pPr>
            <a:r>
              <a:rPr lang="en-US" b="true" sz="5002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COMO SE INTRODUZ ALGUEM SEM EXPERIÊNCIA PREVIA PARA O MUNDO DA PROGRAMAÇÃO E INFORMATICA?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78280" y="3847611"/>
            <a:ext cx="14531439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INTRODUÇÃO - UMA PERGUNTA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-1441589" y="-754641"/>
            <a:ext cx="3924921" cy="392492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38125" cap="sq">
              <a:solidFill>
                <a:srgbClr val="FFBF08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798090" y="7457682"/>
            <a:ext cx="4922421" cy="492242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40404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3911" y="1017534"/>
            <a:ext cx="7418473" cy="741847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9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3412" y="611971"/>
            <a:ext cx="7418473" cy="74184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812800" cy="9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7347716" y="6921360"/>
            <a:ext cx="2405333" cy="1828053"/>
          </a:xfrm>
          <a:custGeom>
            <a:avLst/>
            <a:gdLst/>
            <a:ahLst/>
            <a:cxnLst/>
            <a:rect r="r" b="b" t="t" l="l"/>
            <a:pathLst>
              <a:path h="1828053" w="2405333">
                <a:moveTo>
                  <a:pt x="2405333" y="0"/>
                </a:moveTo>
                <a:lnTo>
                  <a:pt x="0" y="0"/>
                </a:lnTo>
                <a:lnTo>
                  <a:pt x="0" y="1828053"/>
                </a:lnTo>
                <a:lnTo>
                  <a:pt x="2405333" y="1828053"/>
                </a:lnTo>
                <a:lnTo>
                  <a:pt x="24053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0085919" y="0"/>
            <a:ext cx="8202081" cy="4613671"/>
          </a:xfrm>
          <a:custGeom>
            <a:avLst/>
            <a:gdLst/>
            <a:ahLst/>
            <a:cxnLst/>
            <a:rect r="r" b="b" t="t" l="l"/>
            <a:pathLst>
              <a:path h="4613671" w="8202081">
                <a:moveTo>
                  <a:pt x="8202081" y="0"/>
                </a:moveTo>
                <a:lnTo>
                  <a:pt x="0" y="0"/>
                </a:lnTo>
                <a:lnTo>
                  <a:pt x="0" y="4613671"/>
                </a:lnTo>
                <a:lnTo>
                  <a:pt x="8202081" y="4613671"/>
                </a:lnTo>
                <a:lnTo>
                  <a:pt x="8202081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14287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0085919" y="4016744"/>
            <a:ext cx="8202081" cy="6342832"/>
          </a:xfrm>
          <a:custGeom>
            <a:avLst/>
            <a:gdLst/>
            <a:ahLst/>
            <a:cxnLst/>
            <a:rect r="r" b="b" t="t" l="l"/>
            <a:pathLst>
              <a:path h="6342832" w="8202081">
                <a:moveTo>
                  <a:pt x="0" y="0"/>
                </a:moveTo>
                <a:lnTo>
                  <a:pt x="8202081" y="0"/>
                </a:lnTo>
                <a:lnTo>
                  <a:pt x="8202081" y="6342832"/>
                </a:lnTo>
                <a:lnTo>
                  <a:pt x="0" y="63428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714" t="-1425" r="0" b="-1425"/>
            </a:stretch>
          </a:blipFill>
          <a:ln w="14287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1275680" y="2532095"/>
            <a:ext cx="6072037" cy="4584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6"/>
              </a:lnSpc>
            </a:pPr>
            <a:r>
              <a:rPr lang="en-US" sz="2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Podem ser jogos, plataformas, e instituições, todos focados em ensinar sobre a lógica e as linguagens de programação para iniciantes, tornando assim o aprendizado muito mais simples e fluido.</a:t>
            </a:r>
          </a:p>
          <a:p>
            <a:pPr algn="l">
              <a:lnSpc>
                <a:spcPts val="4056"/>
              </a:lnSpc>
            </a:pPr>
          </a:p>
          <a:p>
            <a:pPr algn="l" marL="0" indent="0" lvl="0">
              <a:lnSpc>
                <a:spcPts val="4056"/>
              </a:lnSpc>
            </a:pPr>
            <a:r>
              <a:rPr lang="en-US" sz="2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Exemplos: Scratch, Grasshopper e Code Combat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5680" y="1159089"/>
            <a:ext cx="5184491" cy="1075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19"/>
              </a:lnSpc>
              <a:spcBef>
                <a:spcPct val="0"/>
              </a:spcBef>
            </a:pPr>
            <a:r>
              <a:rPr lang="en-US" b="true" sz="3835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FERRAMENTAS DE APRENDIZAGEM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5680" y="785709"/>
            <a:ext cx="3838286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89951" y="369932"/>
            <a:ext cx="1675774" cy="167577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319169" y="2229506"/>
            <a:ext cx="6699668" cy="6699668"/>
          </a:xfrm>
          <a:custGeom>
            <a:avLst/>
            <a:gdLst/>
            <a:ahLst/>
            <a:cxnLst/>
            <a:rect r="r" b="b" t="t" l="l"/>
            <a:pathLst>
              <a:path h="6699668" w="6699668">
                <a:moveTo>
                  <a:pt x="0" y="0"/>
                </a:moveTo>
                <a:lnTo>
                  <a:pt x="6699668" y="0"/>
                </a:lnTo>
                <a:lnTo>
                  <a:pt x="6699668" y="6699668"/>
                </a:lnTo>
                <a:lnTo>
                  <a:pt x="0" y="6699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593989" y="-907041"/>
            <a:ext cx="3924921" cy="392492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38125" cap="sq">
              <a:solidFill>
                <a:srgbClr val="FFBF08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441589" y="-754641"/>
            <a:ext cx="3924921" cy="392492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38125" cap="sq">
              <a:solidFill>
                <a:srgbClr val="FFBF08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798090" y="7457682"/>
            <a:ext cx="4922421" cy="492242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40404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1099118">
            <a:off x="13928532" y="140140"/>
            <a:ext cx="1739115" cy="7357793"/>
          </a:xfrm>
          <a:custGeom>
            <a:avLst/>
            <a:gdLst/>
            <a:ahLst/>
            <a:cxnLst/>
            <a:rect r="r" b="b" t="t" l="l"/>
            <a:pathLst>
              <a:path h="7357793" w="1739115">
                <a:moveTo>
                  <a:pt x="0" y="0"/>
                </a:moveTo>
                <a:lnTo>
                  <a:pt x="1739115" y="0"/>
                </a:lnTo>
                <a:lnTo>
                  <a:pt x="1739115" y="7357793"/>
                </a:lnTo>
                <a:lnTo>
                  <a:pt x="0" y="73577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269020" y="4500101"/>
            <a:ext cx="11749959" cy="1680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0"/>
              </a:lnSpc>
            </a:pPr>
            <a:r>
              <a:rPr lang="en-US" b="true" sz="399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NÃO EXISTEM PORTAIS DE INFORMAÇÃO SOBRE ESSAS FERRAMENTAS DE APRENDIZADO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78280" y="3847611"/>
            <a:ext cx="14531439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O PROBLEMA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98526" y="4706635"/>
            <a:ext cx="8681313" cy="868131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F0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434264"/>
            <a:ext cx="7584393" cy="7824036"/>
            <a:chOff x="0" y="0"/>
            <a:chExt cx="830979" cy="8572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30979" cy="857235"/>
            </a:xfrm>
            <a:custGeom>
              <a:avLst/>
              <a:gdLst/>
              <a:ahLst/>
              <a:cxnLst/>
              <a:rect r="r" b="b" t="t" l="l"/>
              <a:pathLst>
                <a:path h="857235" w="830979">
                  <a:moveTo>
                    <a:pt x="0" y="0"/>
                  </a:moveTo>
                  <a:lnTo>
                    <a:pt x="830979" y="0"/>
                  </a:lnTo>
                  <a:lnTo>
                    <a:pt x="830979" y="857235"/>
                  </a:lnTo>
                  <a:lnTo>
                    <a:pt x="0" y="85723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830979" cy="952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30968" y="3043189"/>
            <a:ext cx="5969626" cy="4509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87"/>
              </a:lnSpc>
            </a:pPr>
            <a:r>
              <a:rPr lang="en-US" sz="2359" spc="-7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Por meio desse projeto de TCC se visa a pesquisa e criação de um Website que sirva como portal de informação onde usuários podem aprender e entender sobre meios e plataformas que abordem o aprendizado da área da informática. </a:t>
            </a:r>
          </a:p>
          <a:p>
            <a:pPr algn="just" marL="0" indent="0" lvl="0">
              <a:lnSpc>
                <a:spcPts val="3987"/>
              </a:lnSpc>
            </a:pPr>
            <a:r>
              <a:rPr lang="en-US" sz="2359" spc="-7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Podendo servir como fonte de informação para iniciantes da programação em seus estudos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30968" y="2241562"/>
            <a:ext cx="5184491" cy="55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9"/>
              </a:lnSpc>
              <a:spcBef>
                <a:spcPct val="0"/>
              </a:spcBef>
            </a:pPr>
            <a:r>
              <a:rPr lang="en-US" b="true" sz="3935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PROPOSTA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776212" y="-1962461"/>
            <a:ext cx="3924921" cy="392492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38125" cap="sq">
              <a:solidFill>
                <a:srgbClr val="FFBF08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555019" y="2846196"/>
            <a:ext cx="5538194" cy="1504805"/>
            <a:chOff x="0" y="0"/>
            <a:chExt cx="3735980" cy="101511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735980" cy="1015118"/>
            </a:xfrm>
            <a:custGeom>
              <a:avLst/>
              <a:gdLst/>
              <a:ahLst/>
              <a:cxnLst/>
              <a:rect r="r" b="b" t="t" l="l"/>
              <a:pathLst>
                <a:path h="1015118" w="3735980">
                  <a:moveTo>
                    <a:pt x="0" y="0"/>
                  </a:moveTo>
                  <a:lnTo>
                    <a:pt x="3735980" y="0"/>
                  </a:lnTo>
                  <a:lnTo>
                    <a:pt x="3735980" y="1015118"/>
                  </a:lnTo>
                  <a:lnTo>
                    <a:pt x="0" y="1015118"/>
                  </a:lnTo>
                  <a:close/>
                </a:path>
              </a:pathLst>
            </a:custGeom>
            <a:solidFill>
              <a:srgbClr val="FFBF0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0"/>
              <a:ext cx="3735980" cy="1110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807842" y="3167014"/>
            <a:ext cx="5052937" cy="772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8"/>
              </a:lnSpc>
              <a:spcBef>
                <a:spcPct val="0"/>
              </a:spcBef>
            </a:pPr>
            <a:r>
              <a:rPr lang="en-US" b="true" sz="2735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INICIANTES DE PROGRAMAÇÃO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44562" y="2232037"/>
            <a:ext cx="3779498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PUBLICO ALVO: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555019" y="5574759"/>
            <a:ext cx="5538194" cy="1504805"/>
            <a:chOff x="0" y="0"/>
            <a:chExt cx="3735980" cy="101511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735980" cy="1015118"/>
            </a:xfrm>
            <a:custGeom>
              <a:avLst/>
              <a:gdLst/>
              <a:ahLst/>
              <a:cxnLst/>
              <a:rect r="r" b="b" t="t" l="l"/>
              <a:pathLst>
                <a:path h="1015118" w="3735980">
                  <a:moveTo>
                    <a:pt x="0" y="0"/>
                  </a:moveTo>
                  <a:lnTo>
                    <a:pt x="3735980" y="0"/>
                  </a:lnTo>
                  <a:lnTo>
                    <a:pt x="3735980" y="1015118"/>
                  </a:lnTo>
                  <a:lnTo>
                    <a:pt x="0" y="1015118"/>
                  </a:lnTo>
                  <a:close/>
                </a:path>
              </a:pathLst>
            </a:custGeom>
            <a:solidFill>
              <a:srgbClr val="FFBF08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0"/>
              <a:ext cx="3735980" cy="1110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807842" y="6084793"/>
            <a:ext cx="5052937" cy="394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8"/>
              </a:lnSpc>
              <a:spcBef>
                <a:spcPct val="0"/>
              </a:spcBef>
            </a:pPr>
            <a:r>
              <a:rPr lang="en-US" b="true" sz="2735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WEBSITE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444562" y="5192929"/>
            <a:ext cx="3779498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MEIO: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98809" y="2199545"/>
            <a:ext cx="6220157" cy="622015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085248" y="-1838040"/>
            <a:ext cx="5372118" cy="537211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0" cap="sq">
              <a:solidFill>
                <a:srgbClr val="FFBF08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95071" y="473865"/>
            <a:ext cx="1224101" cy="122410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F0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95071" y="4968800"/>
            <a:ext cx="1224101" cy="122410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F0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458835" y="7098808"/>
            <a:ext cx="1468157" cy="146815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2430150" y="3801893"/>
            <a:ext cx="1815263" cy="1778958"/>
          </a:xfrm>
          <a:custGeom>
            <a:avLst/>
            <a:gdLst/>
            <a:ahLst/>
            <a:cxnLst/>
            <a:rect r="r" b="b" t="t" l="l"/>
            <a:pathLst>
              <a:path h="1778958" w="1815263">
                <a:moveTo>
                  <a:pt x="0" y="0"/>
                </a:moveTo>
                <a:lnTo>
                  <a:pt x="1815263" y="0"/>
                </a:lnTo>
                <a:lnTo>
                  <a:pt x="1815263" y="1778958"/>
                </a:lnTo>
                <a:lnTo>
                  <a:pt x="0" y="1778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102363" y="5886766"/>
            <a:ext cx="4213048" cy="53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2"/>
              </a:lnSpc>
            </a:pPr>
            <a:r>
              <a:rPr lang="en-US" b="true" sz="3775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OBJETIVOS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507122" y="697139"/>
            <a:ext cx="1169846" cy="815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2"/>
              </a:lnSpc>
            </a:pPr>
            <a:r>
              <a:rPr lang="en-US" sz="5729" b="true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01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507122" y="5201599"/>
            <a:ext cx="1169846" cy="815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2"/>
              </a:lnSpc>
            </a:pPr>
            <a:r>
              <a:rPr lang="en-US" sz="5729" b="true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502228" y="923038"/>
            <a:ext cx="8318632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OBJETIVOS GERAIS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502228" y="5427498"/>
            <a:ext cx="8318632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OBJETIVOS ESPECIFICOS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95071" y="2126921"/>
            <a:ext cx="7901516" cy="1498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056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Realizar um estudo sobre ferramentas digitais utilizadas na área da programação</a:t>
            </a:r>
          </a:p>
          <a:p>
            <a:pPr algn="l">
              <a:lnSpc>
                <a:spcPts val="4056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895071" y="6516913"/>
            <a:ext cx="7901516" cy="2527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056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Criação de hub de webpáginas focado em apresentar ferramentas digitais para novos usuários, juntamente com sua documentação. Com o intuito de servirem de base para o aprendizado da programação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95071" y="3429303"/>
            <a:ext cx="7901516" cy="984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056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Promover formas alternativas do ensino na área da informática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434264"/>
            <a:ext cx="15832047" cy="7824036"/>
            <a:chOff x="0" y="0"/>
            <a:chExt cx="1734628" cy="8572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34628" cy="857235"/>
            </a:xfrm>
            <a:custGeom>
              <a:avLst/>
              <a:gdLst/>
              <a:ahLst/>
              <a:cxnLst/>
              <a:rect r="r" b="b" t="t" l="l"/>
              <a:pathLst>
                <a:path h="857235" w="1734628">
                  <a:moveTo>
                    <a:pt x="0" y="0"/>
                  </a:moveTo>
                  <a:lnTo>
                    <a:pt x="1734628" y="0"/>
                  </a:lnTo>
                  <a:lnTo>
                    <a:pt x="1734628" y="857235"/>
                  </a:lnTo>
                  <a:lnTo>
                    <a:pt x="0" y="85723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734628" cy="952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198526" y="8255736"/>
            <a:ext cx="5132213" cy="513221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F0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30968" y="2241562"/>
            <a:ext cx="5184491" cy="55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9"/>
              </a:lnSpc>
              <a:spcBef>
                <a:spcPct val="0"/>
              </a:spcBef>
            </a:pPr>
            <a:r>
              <a:rPr lang="en-US" b="true" sz="3935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O QUE É O INFOHUB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776212" y="-1962461"/>
            <a:ext cx="3924921" cy="392492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38125" cap="sq">
              <a:solidFill>
                <a:srgbClr val="FFBF08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681010" y="2975376"/>
            <a:ext cx="6716853" cy="2527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4056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Se trata um acervo digital de fácil acesso e implementação aonde usuários podem encontrar informações e guias sobre ferramentas e plataformas relacionadas ao aprendizado da programação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82526" y="2528492"/>
            <a:ext cx="5184491" cy="788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COMO ELE SOLUCIONA O PROBLEMA?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87648" y="3415050"/>
            <a:ext cx="5742130" cy="4070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6"/>
              </a:lnSpc>
            </a:pPr>
            <a:r>
              <a:rPr lang="en-US" sz="2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O infohub provém um espaço aberto e intuitivo onde usuários podem encontrar informações precisas e explicações elaboradas sobre ferramentas do aprendizado da programação. Assim podendo servir de base ou auxilio para o aprendizado das linguagens de programação</a:t>
            </a:r>
          </a:p>
        </p:txBody>
      </p:sp>
      <p:sp>
        <p:nvSpPr>
          <p:cNvPr name="AutoShape 15" id="15"/>
          <p:cNvSpPr/>
          <p:nvPr/>
        </p:nvSpPr>
        <p:spPr>
          <a:xfrm flipH="true">
            <a:off x="8944723" y="2499917"/>
            <a:ext cx="0" cy="621327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888540" y="6355612"/>
            <a:ext cx="2037302" cy="1459449"/>
          </a:xfrm>
          <a:custGeom>
            <a:avLst/>
            <a:gdLst/>
            <a:ahLst/>
            <a:cxnLst/>
            <a:rect r="r" b="b" t="t" l="l"/>
            <a:pathLst>
              <a:path h="1459449" w="2037302">
                <a:moveTo>
                  <a:pt x="0" y="0"/>
                </a:moveTo>
                <a:lnTo>
                  <a:pt x="2037302" y="0"/>
                </a:lnTo>
                <a:lnTo>
                  <a:pt x="2037302" y="1459449"/>
                </a:lnTo>
                <a:lnTo>
                  <a:pt x="0" y="14594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2387470" y="7974034"/>
            <a:ext cx="179792" cy="17979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34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4454036" y="6334554"/>
            <a:ext cx="3736297" cy="1292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69"/>
              </a:lnSpc>
            </a:pPr>
            <a:r>
              <a:rPr lang="en-US" b="true" sz="7120" spc="-34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INFOHUB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454036" y="7555347"/>
            <a:ext cx="2156670" cy="299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4"/>
              </a:lnSpc>
            </a:pPr>
            <a:r>
              <a:rPr lang="en-US" b="true" sz="181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BILIOTECA DIGITAL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963119" y="7855010"/>
            <a:ext cx="131215" cy="131215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34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059449" y="7964857"/>
            <a:ext cx="116927" cy="116927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34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429857" y="8016420"/>
            <a:ext cx="95020" cy="95020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34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087072" y="7991889"/>
            <a:ext cx="61682" cy="61682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34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3145535" y="8166440"/>
            <a:ext cx="61682" cy="61682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34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997885" y="7889776"/>
            <a:ext cx="61682" cy="61682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34"/>
                </a:lnSpc>
              </a:pPr>
            </a:p>
          </p:txBody>
        </p:sp>
      </p:grpSp>
      <p:sp>
        <p:nvSpPr>
          <p:cNvPr name="AutoShape 40" id="40"/>
          <p:cNvSpPr/>
          <p:nvPr/>
        </p:nvSpPr>
        <p:spPr>
          <a:xfrm>
            <a:off x="2059567" y="7938712"/>
            <a:ext cx="344203" cy="9222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 flipH="true">
            <a:off x="2524876" y="8022730"/>
            <a:ext cx="562195" cy="412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2" id="42"/>
          <p:cNvGrpSpPr/>
          <p:nvPr/>
        </p:nvGrpSpPr>
        <p:grpSpPr>
          <a:xfrm rot="1665763">
            <a:off x="3808745" y="8118306"/>
            <a:ext cx="116927" cy="116927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34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1665763">
            <a:off x="3836643" y="8145405"/>
            <a:ext cx="61682" cy="61682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34"/>
                </a:lnSpc>
              </a:pPr>
            </a:p>
          </p:txBody>
        </p:sp>
      </p:grpSp>
      <p:sp>
        <p:nvSpPr>
          <p:cNvPr name="AutoShape 48" id="48"/>
          <p:cNvSpPr/>
          <p:nvPr/>
        </p:nvSpPr>
        <p:spPr>
          <a:xfrm flipH="true" flipV="true">
            <a:off x="3163985" y="8032846"/>
            <a:ext cx="676208" cy="129034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9" id="49"/>
          <p:cNvSpPr/>
          <p:nvPr/>
        </p:nvSpPr>
        <p:spPr>
          <a:xfrm>
            <a:off x="4454036" y="8056426"/>
            <a:ext cx="373629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340657" y="1867548"/>
            <a:ext cx="8681313" cy="868131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0916" y="1719183"/>
            <a:ext cx="9112991" cy="7988311"/>
            <a:chOff x="0" y="0"/>
            <a:chExt cx="998459" cy="8752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98459" cy="875234"/>
            </a:xfrm>
            <a:custGeom>
              <a:avLst/>
              <a:gdLst/>
              <a:ahLst/>
              <a:cxnLst/>
              <a:rect r="r" b="b" t="t" l="l"/>
              <a:pathLst>
                <a:path h="875234" w="998459">
                  <a:moveTo>
                    <a:pt x="0" y="0"/>
                  </a:moveTo>
                  <a:lnTo>
                    <a:pt x="998459" y="0"/>
                  </a:lnTo>
                  <a:lnTo>
                    <a:pt x="998459" y="875234"/>
                  </a:lnTo>
                  <a:lnTo>
                    <a:pt x="0" y="8752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998459" cy="970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2198526" y="-933761"/>
            <a:ext cx="3924921" cy="392492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38125" cap="sq">
              <a:solidFill>
                <a:srgbClr val="FFBF08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466730" y="1743137"/>
            <a:ext cx="8006486" cy="7670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6"/>
              </a:lnSpc>
            </a:pPr>
            <a:r>
              <a:rPr lang="en-US" sz="2400" spc="-7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O projeto constituirá de um estudo sobre determinadas ferramentas uteis para o aprendizado na área da informática e a abordagem das informações obtidas por esse estudo por meio de um Website </a:t>
            </a:r>
          </a:p>
          <a:p>
            <a:pPr algn="l">
              <a:lnSpc>
                <a:spcPts val="4056"/>
              </a:lnSpc>
            </a:pPr>
          </a:p>
          <a:p>
            <a:pPr algn="l" marL="518160" indent="-259080" lvl="1">
              <a:lnSpc>
                <a:spcPts val="4056"/>
              </a:lnSpc>
              <a:buFont typeface="Arial"/>
              <a:buChar char="•"/>
            </a:pPr>
            <a:r>
              <a:rPr lang="en-US" b="true" sz="2400" spc="-72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Pesquisa:</a:t>
            </a:r>
            <a:r>
              <a:rPr lang="en-US" sz="2400" spc="-7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 Utilizará do referêncial teórico de outras pesquisas educacionais relacionadas ao tema. Abordará as funcionalidades e o uso educacional das ferramentas estudadas</a:t>
            </a:r>
          </a:p>
          <a:p>
            <a:pPr algn="l">
              <a:lnSpc>
                <a:spcPts val="4056"/>
              </a:lnSpc>
            </a:pPr>
          </a:p>
          <a:p>
            <a:pPr algn="l" marL="518160" indent="-259080" lvl="1">
              <a:lnSpc>
                <a:spcPts val="4056"/>
              </a:lnSpc>
              <a:buFont typeface="Arial"/>
              <a:buChar char="•"/>
            </a:pPr>
            <a:r>
              <a:rPr lang="en-US" b="true" sz="2400" spc="-72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Website:</a:t>
            </a:r>
            <a:r>
              <a:rPr lang="en-US" sz="2400" spc="-7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Constitui de uma página inicial, uma documentação a qual aborda os dados da pesquisa de forma mais efetiva, e páginas dedicadas á apresentar as ferramentas digitais e suas informações para os usuários.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3809211" y="-464949"/>
            <a:ext cx="4967219" cy="11216898"/>
            <a:chOff x="0" y="0"/>
            <a:chExt cx="2117230" cy="478109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17230" cy="4781095"/>
            </a:xfrm>
            <a:custGeom>
              <a:avLst/>
              <a:gdLst/>
              <a:ahLst/>
              <a:cxnLst/>
              <a:rect r="r" b="b" t="t" l="l"/>
              <a:pathLst>
                <a:path h="4781095" w="2117230">
                  <a:moveTo>
                    <a:pt x="0" y="0"/>
                  </a:moveTo>
                  <a:lnTo>
                    <a:pt x="2117230" y="0"/>
                  </a:lnTo>
                  <a:lnTo>
                    <a:pt x="2117230" y="4781095"/>
                  </a:lnTo>
                  <a:lnTo>
                    <a:pt x="0" y="4781095"/>
                  </a:lnTo>
                  <a:close/>
                </a:path>
              </a:pathLst>
            </a:custGeom>
            <a:solidFill>
              <a:srgbClr val="FFBF0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0"/>
              <a:ext cx="2117230" cy="4876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680529" y="399391"/>
            <a:ext cx="1468157" cy="1468157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130916" y="338698"/>
            <a:ext cx="10030910" cy="124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1"/>
              </a:lnSpc>
              <a:spcBef>
                <a:spcPct val="0"/>
              </a:spcBef>
            </a:pPr>
            <a:r>
              <a:rPr lang="en-US" b="true" sz="4492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METODOLOGIA - ELABORAÇÃO TÉCNICA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986856" y="2275697"/>
            <a:ext cx="5132615" cy="6568275"/>
            <a:chOff x="0" y="0"/>
            <a:chExt cx="3462401" cy="443086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462401" cy="4430866"/>
            </a:xfrm>
            <a:custGeom>
              <a:avLst/>
              <a:gdLst/>
              <a:ahLst/>
              <a:cxnLst/>
              <a:rect r="r" b="b" t="t" l="l"/>
              <a:pathLst>
                <a:path h="4430866" w="3462401">
                  <a:moveTo>
                    <a:pt x="3462401" y="102570"/>
                  </a:moveTo>
                  <a:lnTo>
                    <a:pt x="3462401" y="4328296"/>
                  </a:lnTo>
                  <a:cubicBezTo>
                    <a:pt x="3462401" y="4355500"/>
                    <a:pt x="3451595" y="4381588"/>
                    <a:pt x="3432359" y="4400824"/>
                  </a:cubicBezTo>
                  <a:cubicBezTo>
                    <a:pt x="3413123" y="4420060"/>
                    <a:pt x="3387035" y="4430866"/>
                    <a:pt x="3359831" y="4430866"/>
                  </a:cubicBezTo>
                  <a:lnTo>
                    <a:pt x="102570" y="4430866"/>
                  </a:lnTo>
                  <a:cubicBezTo>
                    <a:pt x="75366" y="4430866"/>
                    <a:pt x="49278" y="4420060"/>
                    <a:pt x="30042" y="4400824"/>
                  </a:cubicBezTo>
                  <a:cubicBezTo>
                    <a:pt x="10806" y="4381588"/>
                    <a:pt x="0" y="4355500"/>
                    <a:pt x="0" y="4328296"/>
                  </a:cubicBezTo>
                  <a:lnTo>
                    <a:pt x="0" y="102570"/>
                  </a:lnTo>
                  <a:cubicBezTo>
                    <a:pt x="0" y="75366"/>
                    <a:pt x="10806" y="49278"/>
                    <a:pt x="30042" y="30042"/>
                  </a:cubicBezTo>
                  <a:cubicBezTo>
                    <a:pt x="49278" y="10806"/>
                    <a:pt x="75366" y="0"/>
                    <a:pt x="102570" y="0"/>
                  </a:cubicBezTo>
                  <a:lnTo>
                    <a:pt x="3359831" y="0"/>
                  </a:lnTo>
                  <a:cubicBezTo>
                    <a:pt x="3416479" y="0"/>
                    <a:pt x="3462401" y="45922"/>
                    <a:pt x="3462401" y="10257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0"/>
              <a:ext cx="3462401" cy="45261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2473506" y="2837808"/>
            <a:ext cx="4159316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LINGUAGENS UTILIZADAS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73506" y="3474720"/>
            <a:ext cx="4159316" cy="166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b="true">
                <a:solidFill>
                  <a:srgbClr val="FFFFFF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HTML</a:t>
            </a:r>
          </a:p>
          <a:p>
            <a:pPr algn="l">
              <a:lnSpc>
                <a:spcPts val="2640"/>
              </a:lnSpc>
            </a:pPr>
            <a:r>
              <a:rPr lang="en-US" sz="2400" b="true">
                <a:solidFill>
                  <a:srgbClr val="FFFFFF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CSS</a:t>
            </a:r>
          </a:p>
          <a:p>
            <a:pPr algn="l">
              <a:lnSpc>
                <a:spcPts val="2640"/>
              </a:lnSpc>
            </a:pPr>
            <a:r>
              <a:rPr lang="en-US" sz="2400" b="true">
                <a:solidFill>
                  <a:srgbClr val="FFFFFF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JAVASCRIPT</a:t>
            </a:r>
          </a:p>
          <a:p>
            <a:pPr algn="l">
              <a:lnSpc>
                <a:spcPts val="2640"/>
              </a:lnSpc>
            </a:pPr>
            <a:r>
              <a:rPr lang="en-US" sz="2400" b="true">
                <a:solidFill>
                  <a:srgbClr val="FFFFFF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MARKDOWN</a:t>
            </a:r>
          </a:p>
          <a:p>
            <a:pPr algn="l">
              <a:lnSpc>
                <a:spcPts val="2640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2473506" y="5295581"/>
            <a:ext cx="4159316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TECNOLOGIAS UTILIZADAS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473506" y="5935661"/>
            <a:ext cx="4159316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b="true">
                <a:solidFill>
                  <a:srgbClr val="FFFFFF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VITEPRESS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473506" y="6872576"/>
            <a:ext cx="4159316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MODELO DE HOSPEDAGEM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473506" y="7512656"/>
            <a:ext cx="4159316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b="true">
                <a:solidFill>
                  <a:srgbClr val="FFFFFF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GITHUB PAGES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340657" y="1867548"/>
            <a:ext cx="8681313" cy="868131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198526" y="-933761"/>
            <a:ext cx="3924921" cy="392492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38125" cap="sq">
              <a:solidFill>
                <a:srgbClr val="FFBF08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18724" y="-464949"/>
            <a:ext cx="3257706" cy="11216898"/>
            <a:chOff x="0" y="0"/>
            <a:chExt cx="1388566" cy="47810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88566" cy="4781095"/>
            </a:xfrm>
            <a:custGeom>
              <a:avLst/>
              <a:gdLst/>
              <a:ahLst/>
              <a:cxnLst/>
              <a:rect r="r" b="b" t="t" l="l"/>
              <a:pathLst>
                <a:path h="4781095" w="1388566">
                  <a:moveTo>
                    <a:pt x="0" y="0"/>
                  </a:moveTo>
                  <a:lnTo>
                    <a:pt x="1388566" y="0"/>
                  </a:lnTo>
                  <a:lnTo>
                    <a:pt x="1388566" y="4781095"/>
                  </a:lnTo>
                  <a:lnTo>
                    <a:pt x="0" y="4781095"/>
                  </a:lnTo>
                  <a:close/>
                </a:path>
              </a:pathLst>
            </a:custGeom>
            <a:solidFill>
              <a:srgbClr val="FFBF0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1388566" cy="4876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147577" y="-206338"/>
            <a:ext cx="1468157" cy="146815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775497" y="971355"/>
            <a:ext cx="7376665" cy="628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1"/>
              </a:lnSpc>
              <a:spcBef>
                <a:spcPct val="0"/>
              </a:spcBef>
            </a:pPr>
            <a:r>
              <a:rPr lang="en-US" b="true" sz="4492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PROGRESSO DO PROJETO: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650410"/>
            <a:ext cx="7424515" cy="557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2"/>
              </a:lnSpc>
            </a:pPr>
            <a:r>
              <a:rPr lang="en-US" sz="3929" b="true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O QUE JÁ FOI DESENVOLVIDO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5333" y="4127684"/>
            <a:ext cx="6810648" cy="3812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8458" indent="-424229" lvl="1">
              <a:lnSpc>
                <a:spcPts val="4322"/>
              </a:lnSpc>
              <a:buFont typeface="Arial"/>
              <a:buChar char="•"/>
            </a:pPr>
            <a:r>
              <a:rPr lang="en-US" sz="3929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ESTRUTURAÇÃO</a:t>
            </a:r>
          </a:p>
          <a:p>
            <a:pPr algn="l">
              <a:lnSpc>
                <a:spcPts val="4322"/>
              </a:lnSpc>
            </a:pPr>
          </a:p>
          <a:p>
            <a:pPr algn="l" marL="848458" indent="-424229" lvl="1">
              <a:lnSpc>
                <a:spcPts val="4322"/>
              </a:lnSpc>
              <a:buFont typeface="Arial"/>
              <a:buChar char="•"/>
            </a:pPr>
            <a:r>
              <a:rPr lang="en-US" sz="3929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PROGRAMAÇÃO GERAL</a:t>
            </a:r>
          </a:p>
          <a:p>
            <a:pPr algn="l">
              <a:lnSpc>
                <a:spcPts val="4322"/>
              </a:lnSpc>
            </a:pPr>
          </a:p>
          <a:p>
            <a:pPr algn="l" marL="848458" indent="-424229" lvl="1">
              <a:lnSpc>
                <a:spcPts val="4322"/>
              </a:lnSpc>
              <a:buFont typeface="Arial"/>
              <a:buChar char="•"/>
            </a:pPr>
            <a:r>
              <a:rPr lang="en-US" sz="3929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DESENVOLVIMENTO DOS MODELOS DE PÁGINAS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63829" y="2377468"/>
            <a:ext cx="7424515" cy="110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2"/>
              </a:lnSpc>
            </a:pPr>
            <a:r>
              <a:rPr lang="en-US" sz="3929" b="true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O QUE PRECISA SER ABORDADO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0" y="3856222"/>
            <a:ext cx="6810648" cy="3812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8458" indent="-424229" lvl="1">
              <a:lnSpc>
                <a:spcPts val="4322"/>
              </a:lnSpc>
              <a:buFont typeface="Arial"/>
              <a:buChar char="•"/>
            </a:pPr>
            <a:r>
              <a:rPr lang="en-US" sz="3929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OTIMIZAÇÃO E ORGANIZAÇÃO</a:t>
            </a:r>
          </a:p>
          <a:p>
            <a:pPr algn="l">
              <a:lnSpc>
                <a:spcPts val="4322"/>
              </a:lnSpc>
            </a:pPr>
          </a:p>
          <a:p>
            <a:pPr algn="l" marL="848458" indent="-424229" lvl="1">
              <a:lnSpc>
                <a:spcPts val="4322"/>
              </a:lnSpc>
              <a:buFont typeface="Arial"/>
              <a:buChar char="•"/>
            </a:pPr>
            <a:r>
              <a:rPr lang="en-US" sz="3929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ADIÇÃO DE MAIS OBJETOS DE PESQUISA</a:t>
            </a:r>
          </a:p>
          <a:p>
            <a:pPr algn="l">
              <a:lnSpc>
                <a:spcPts val="4322"/>
              </a:lnSpc>
            </a:pPr>
          </a:p>
          <a:p>
            <a:pPr algn="l" marL="848458" indent="-424229" lvl="1">
              <a:lnSpc>
                <a:spcPts val="4322"/>
              </a:lnSpc>
              <a:buFont typeface="Arial"/>
              <a:buChar char="•"/>
            </a:pPr>
            <a:r>
              <a:rPr lang="en-US" sz="3929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POLIMENTO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68406" y="-1921001"/>
            <a:ext cx="8681313" cy="868131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BEB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524202" y="-3977885"/>
            <a:ext cx="8681313" cy="868131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038787" y="-1921001"/>
            <a:ext cx="3924921" cy="392492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38125" cap="sq">
              <a:solidFill>
                <a:srgbClr val="FFBF08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001248" y="9258300"/>
            <a:ext cx="896653" cy="89665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908734" y="2003920"/>
          <a:ext cx="13985230" cy="7644298"/>
        </p:xfrm>
        <a:graphic>
          <a:graphicData uri="http://schemas.openxmlformats.org/drawingml/2006/table">
            <a:tbl>
              <a:tblPr/>
              <a:tblGrid>
                <a:gridCol w="6136867"/>
                <a:gridCol w="1121195"/>
                <a:gridCol w="1121195"/>
                <a:gridCol w="1121195"/>
                <a:gridCol w="1121195"/>
                <a:gridCol w="1121195"/>
                <a:gridCol w="1121195"/>
                <a:gridCol w="1121195"/>
              </a:tblGrid>
              <a:tr h="8041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 b="true">
                          <a:solidFill>
                            <a:srgbClr val="000000"/>
                          </a:solidFill>
                          <a:latin typeface="Courier Prime Bold"/>
                          <a:ea typeface="Courier Prime Bold"/>
                          <a:cs typeface="Courier Prime Bold"/>
                          <a:sym typeface="Courier Prime Bold"/>
                        </a:rPr>
                        <a:t>Atividades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 b="true">
                          <a:solidFill>
                            <a:srgbClr val="000000"/>
                          </a:solidFill>
                          <a:latin typeface="Courier Prime Bold"/>
                          <a:ea typeface="Courier Prime Bold"/>
                          <a:cs typeface="Courier Prime Bold"/>
                          <a:sym typeface="Courier Prime Bold"/>
                        </a:rPr>
                        <a:t>MAR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 b="true">
                          <a:solidFill>
                            <a:srgbClr val="000000"/>
                          </a:solidFill>
                          <a:latin typeface="Courier Prime Bold"/>
                          <a:ea typeface="Courier Prime Bold"/>
                          <a:cs typeface="Courier Prime Bold"/>
                          <a:sym typeface="Courier Prime Bold"/>
                        </a:rPr>
                        <a:t>ABR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 b="true">
                          <a:solidFill>
                            <a:srgbClr val="000000"/>
                          </a:solidFill>
                          <a:latin typeface="Courier Prime Bold"/>
                          <a:ea typeface="Courier Prime Bold"/>
                          <a:cs typeface="Courier Prime Bold"/>
                          <a:sym typeface="Courier Prime Bold"/>
                        </a:rPr>
                        <a:t>MAI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 b="true">
                          <a:solidFill>
                            <a:srgbClr val="000000"/>
                          </a:solidFill>
                          <a:latin typeface="Courier Prime Bold"/>
                          <a:ea typeface="Courier Prime Bold"/>
                          <a:cs typeface="Courier Prime Bold"/>
                          <a:sym typeface="Courier Prime Bold"/>
                        </a:rPr>
                        <a:t>JUN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 b="true">
                          <a:solidFill>
                            <a:srgbClr val="000000"/>
                          </a:solidFill>
                          <a:latin typeface="Courier Prime Bold"/>
                          <a:ea typeface="Courier Prime Bold"/>
                          <a:cs typeface="Courier Prime Bold"/>
                          <a:sym typeface="Courier Prime Bold"/>
                        </a:rPr>
                        <a:t>JUL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 b="true">
                          <a:solidFill>
                            <a:srgbClr val="000000"/>
                          </a:solidFill>
                          <a:latin typeface="Courier Prime Bold"/>
                          <a:ea typeface="Courier Prime Bold"/>
                          <a:cs typeface="Courier Prime Bold"/>
                          <a:sym typeface="Courier Prime Bold"/>
                        </a:rPr>
                        <a:t>AGO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 b="true">
                          <a:solidFill>
                            <a:srgbClr val="000000"/>
                          </a:solidFill>
                          <a:latin typeface="Courier Prime Bold"/>
                          <a:ea typeface="Courier Prime Bold"/>
                          <a:cs typeface="Courier Prime Bold"/>
                          <a:sym typeface="Courier Prime Bold"/>
                        </a:rPr>
                        <a:t>SET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</a:tr>
              <a:tr h="11400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>
                          <a:solidFill>
                            <a:srgbClr val="000000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Elaboração e Definição do projeto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>
                          <a:solidFill>
                            <a:srgbClr val="000000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60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00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>
                          <a:solidFill>
                            <a:srgbClr val="000000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Coleta de dados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>
                          <a:solidFill>
                            <a:srgbClr val="000000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60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>
                          <a:solidFill>
                            <a:srgbClr val="000000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60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>
                          <a:solidFill>
                            <a:srgbClr val="000000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60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00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>
                          <a:solidFill>
                            <a:srgbClr val="000000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Elaboração da Pesquisa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>
                          <a:solidFill>
                            <a:srgbClr val="000000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60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>
                          <a:solidFill>
                            <a:srgbClr val="000000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60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>
                          <a:solidFill>
                            <a:srgbClr val="000000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60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00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>
                          <a:solidFill>
                            <a:srgbClr val="000000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Conceituação do website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>
                          <a:solidFill>
                            <a:srgbClr val="000000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60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>
                          <a:solidFill>
                            <a:srgbClr val="000000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60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>
                          <a:solidFill>
                            <a:srgbClr val="000000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60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00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>
                          <a:solidFill>
                            <a:srgbClr val="000000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Programação do website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>
                          <a:solidFill>
                            <a:srgbClr val="000000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60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>
                          <a:solidFill>
                            <a:srgbClr val="000000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60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>
                          <a:solidFill>
                            <a:srgbClr val="000000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60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606"/>
                    </a:solidFill>
                  </a:tcPr>
                </a:tc>
              </a:tr>
              <a:tr h="11400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>
                          <a:solidFill>
                            <a:srgbClr val="000000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Revisão e Polimento do projeto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606"/>
                    </a:solidFill>
                  </a:tcPr>
                </a:tc>
              </a:tr>
            </a:tbl>
          </a:graphicData>
        </a:graphic>
      </p:graphicFrame>
      <p:sp>
        <p:nvSpPr>
          <p:cNvPr name="TextBox 15" id="15"/>
          <p:cNvSpPr txBox="true"/>
          <p:nvPr/>
        </p:nvSpPr>
        <p:spPr>
          <a:xfrm rot="0">
            <a:off x="908734" y="580711"/>
            <a:ext cx="8870075" cy="962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74"/>
              </a:lnSpc>
              <a:spcBef>
                <a:spcPct val="0"/>
              </a:spcBef>
            </a:pPr>
            <a:r>
              <a:rPr lang="en-US" b="true" sz="6795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CRONOGRAMA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-2413804" y="9258300"/>
            <a:ext cx="3779290" cy="377929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38125" cap="sq">
              <a:solidFill>
                <a:srgbClr val="FFBF08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988870" y="802843"/>
            <a:ext cx="8681313" cy="868131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290704" y="-907041"/>
            <a:ext cx="3924921" cy="392492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38125" cap="sq">
              <a:solidFill>
                <a:srgbClr val="FFBF08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945485" y="4756408"/>
            <a:ext cx="1023581" cy="1032971"/>
          </a:xfrm>
          <a:custGeom>
            <a:avLst/>
            <a:gdLst/>
            <a:ahLst/>
            <a:cxnLst/>
            <a:rect r="r" b="b" t="t" l="l"/>
            <a:pathLst>
              <a:path h="1032971" w="1023581">
                <a:moveTo>
                  <a:pt x="0" y="0"/>
                </a:moveTo>
                <a:lnTo>
                  <a:pt x="1023581" y="0"/>
                </a:lnTo>
                <a:lnTo>
                  <a:pt x="1023581" y="1032972"/>
                </a:lnTo>
                <a:lnTo>
                  <a:pt x="0" y="1032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200446" y="4563510"/>
            <a:ext cx="1174948" cy="1343496"/>
          </a:xfrm>
          <a:custGeom>
            <a:avLst/>
            <a:gdLst/>
            <a:ahLst/>
            <a:cxnLst/>
            <a:rect r="r" b="b" t="t" l="l"/>
            <a:pathLst>
              <a:path h="1343496" w="1174948">
                <a:moveTo>
                  <a:pt x="0" y="0"/>
                </a:moveTo>
                <a:lnTo>
                  <a:pt x="1174948" y="0"/>
                </a:lnTo>
                <a:lnTo>
                  <a:pt x="1174948" y="1343496"/>
                </a:lnTo>
                <a:lnTo>
                  <a:pt x="0" y="13434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049050" y="607430"/>
            <a:ext cx="8870075" cy="962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74"/>
              </a:lnSpc>
              <a:spcBef>
                <a:spcPct val="0"/>
              </a:spcBef>
            </a:pPr>
            <a:r>
              <a:rPr lang="en-US" b="true" sz="6795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BIBLIOGRÁFIA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49050" y="1950302"/>
            <a:ext cx="15019566" cy="112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42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B</a:t>
            </a:r>
            <a:r>
              <a:rPr lang="en-US" b="true" sz="1800" strike="noStrike" u="none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ATISTA, M. Q.; SILVA, M. C. R.; SOUSA, I. M. S. F. O uso das TICs como recurso didático no processo de ensino-aprendizado de língua portuguesa: implicações dessa interface em sala de aula</a:t>
            </a:r>
            <a:r>
              <a:rPr lang="en-US" sz="1800" strike="noStrike" u="non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. Revista Principia, João Pessoa, n. 54, p. 121-129, mar. 2021. </a:t>
            </a:r>
          </a:p>
          <a:p>
            <a:pPr algn="just" marL="0" indent="0" lvl="0">
              <a:lnSpc>
                <a:spcPts val="3042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Disponível em: https://periodicos.ifpb.edu.br/index.php/principia/article/view/3980. Acesso em: 07 maio. 2026.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49050" y="3575159"/>
            <a:ext cx="15019566" cy="150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42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MARIA, S. O uso do scratch como recurso didático. Ifpb.edu.br, 2026.</a:t>
            </a:r>
          </a:p>
          <a:p>
            <a:pPr algn="just" marL="0" indent="0" lvl="0">
              <a:lnSpc>
                <a:spcPts val="3042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CAVALCANTE, F. V. O uso do Scratch como ferramenta para criação de objetos de aprendizagem no ensino de matemática. </a:t>
            </a:r>
          </a:p>
          <a:p>
            <a:pPr algn="just" marL="0" indent="0" lvl="0">
              <a:lnSpc>
                <a:spcPts val="3042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Disponível em:</a:t>
            </a:r>
          </a:p>
          <a:p>
            <a:pPr algn="just" marL="0" indent="0" lvl="0">
              <a:lnSpc>
                <a:spcPts val="3042"/>
              </a:lnSpc>
              <a:spcBef>
                <a:spcPct val="0"/>
              </a:spcBef>
            </a:pPr>
            <a:r>
              <a:rPr lang="en-US" sz="1800" strike="noStrike" u="sng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  <a:hlinkClick r:id="rId6" tooltip="http://uft.edu.br"/>
              </a:rPr>
              <a:t>Uft.edu.br</a:t>
            </a:r>
            <a:r>
              <a:rPr lang="en-US" sz="1800" strike="noStrike" u="non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  2021. Acesso em: 07 maio. 2026.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49050" y="5463394"/>
            <a:ext cx="15019566" cy="2269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42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OLIVEIR</a:t>
            </a:r>
            <a:r>
              <a:rPr lang="en-US" b="true" sz="1800" strike="noStrike" u="none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A XAVIER, E.; DOS, L.; GONZALEZ, S. A UTILIZAÇÃO DO SCRATCH COMO FERRAMENTA DE APRENDIZAGEM DO ALUNO DO ENSINO FUNDAMENTAL: UM ESTUDO DE CASO APLICADO NA ESCOLA MUNICIPAL SANTA TEREZINHA. , v. 11, p. 22377719.</a:t>
            </a:r>
          </a:p>
          <a:p>
            <a:pPr algn="just" marL="0" indent="0" lvl="0">
              <a:lnSpc>
                <a:spcPts val="3042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disponivel em: </a:t>
            </a:r>
          </a:p>
          <a:p>
            <a:pPr algn="just" marL="0" indent="0" lvl="0">
              <a:lnSpc>
                <a:spcPts val="3042"/>
              </a:lnSpc>
              <a:spcBef>
                <a:spcPct val="0"/>
              </a:spcBef>
            </a:pPr>
            <a:r>
              <a:rPr lang="en-US" sz="1800" strike="noStrike" u="sng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  <a:hlinkClick r:id="rId7" tooltip="https://www.cairu.br/revista/arquivos/artigos/20221/11_UTILIZACAO_SCRATCH_FERRAMENTA.pdf"/>
              </a:rPr>
              <a:t>https://www.cairu.br/revista/arquivos/artigos/20221/11_UTILIZACAO_SCRATCH_FERRAMENTA.pdf</a:t>
            </a:r>
            <a:r>
              <a:rPr lang="en-US" sz="1800" strike="noStrike" u="non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</a:p>
          <a:p>
            <a:pPr algn="just" marL="0" indent="0" lvl="0">
              <a:lnSpc>
                <a:spcPts val="3042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2022. Acesso em: 08 maio. 2026.</a:t>
            </a:r>
          </a:p>
          <a:p>
            <a:pPr algn="just" marL="0" indent="0" lvl="0">
              <a:lnSpc>
                <a:spcPts val="3042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049050" y="7637379"/>
            <a:ext cx="15019566" cy="150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42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V</a:t>
            </a:r>
            <a:r>
              <a:rPr lang="en-US" b="true" sz="1800" strike="noStrike" u="none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ALENTE, J A O computador auxilia no processo de mudança na escola.Informática na educação 2010.</a:t>
            </a:r>
          </a:p>
          <a:p>
            <a:pPr algn="just" marL="0" indent="0" lvl="0">
              <a:lnSpc>
                <a:spcPts val="3042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Disponível em:</a:t>
            </a:r>
          </a:p>
          <a:p>
            <a:pPr algn="just" marL="0" indent="0" lvl="0">
              <a:lnSpc>
                <a:spcPts val="3042"/>
              </a:lnSpc>
              <a:spcBef>
                <a:spcPct val="0"/>
              </a:spcBef>
            </a:pPr>
            <a:r>
              <a:rPr lang="en-US" sz="1800" strike="noStrike" u="sng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  <a:hlinkClick r:id="rId8" tooltip="http://www.nte-jgs.rct-sc.br/valente.htm"/>
              </a:rPr>
              <a:t>http://www.nte-jgs.rct-sc.br/valente.htm</a:t>
            </a:r>
          </a:p>
          <a:p>
            <a:pPr algn="just" marL="0" indent="0" lvl="0">
              <a:lnSpc>
                <a:spcPts val="3042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Acesso em: 07 maio. 2026.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30169" y="7407407"/>
            <a:ext cx="1224101" cy="122410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F0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279072" y="1055420"/>
            <a:ext cx="1675774" cy="167577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856697" y="802843"/>
            <a:ext cx="8681313" cy="868131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593989" y="-907041"/>
            <a:ext cx="3924921" cy="392492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38125" cap="sq">
              <a:solidFill>
                <a:srgbClr val="FFBF08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503039" y="4067690"/>
            <a:ext cx="10613920" cy="2678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62"/>
              </a:lnSpc>
            </a:pPr>
            <a:r>
              <a:rPr lang="en-US" b="true" sz="951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FIM DA APRESENTAÇÃO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DAHLo-MUQ4k</dc:identifier>
  <dcterms:modified xsi:type="dcterms:W3CDTF">2011-08-01T06:04:30Z</dcterms:modified>
  <cp:revision>1</cp:revision>
  <dc:title>eSTUDO Ferramentas de aprendizagem na área da informática</dc:title>
</cp:coreProperties>
</file>